
<file path=[Content_Types].xml><?xml version="1.0" encoding="utf-8"?>
<Types xmlns="http://schemas.openxmlformats.org/package/2006/content-types">
  <Default Extension="jpeg" ContentType="image/jpeg"/>
  <Default Extension="jpg" ContentType="image/jp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ink/ink1.xml" ContentType="application/inkml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9"/>
  </p:notesMasterIdLst>
  <p:sldIdLst>
    <p:sldId id="256" r:id="rId2"/>
    <p:sldId id="296" r:id="rId3"/>
    <p:sldId id="297" r:id="rId4"/>
    <p:sldId id="260" r:id="rId5"/>
    <p:sldId id="300" r:id="rId6"/>
    <p:sldId id="308" r:id="rId7"/>
    <p:sldId id="271" r:id="rId8"/>
  </p:sldIdLst>
  <p:sldSz cx="18288000" cy="10287000"/>
  <p:notesSz cx="18288000" cy="10287000"/>
  <p:defaultTextStyle>
    <a:defPPr>
      <a:defRPr kern="0"/>
    </a:defPPr>
  </p:defaultTextStyle>
  <p:extLst>
    <p:ext uri="{EFAFB233-063F-42B5-8137-9DF3F51BA10A}">
      <p15:sld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61" d="100"/>
          <a:sy n="61" d="100"/>
        </p:scale>
        <p:origin x="322" y="53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notesMaster" Target="notesMasters/notesMaster1.xml"/></Relationships>
</file>

<file path=ppt/ink/ink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13T11:19:31.716"/>
    </inkml:context>
    <inkml:brush xml:id="br0">
      <inkml:brushProperty name="width" value="0.35" units="cm"/>
      <inkml:brushProperty name="height" value="0.35" units="cm"/>
      <inkml:brushProperty name="color" value="#FFFFFF"/>
    </inkml:brush>
  </inkml:definitions>
  <inkml:trace contextRef="#ctx0" brushRef="#br0">0 1 4915,'0'0'0</inkml:trace>
</inkml:ink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7924800" cy="51593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10358438" y="0"/>
            <a:ext cx="7924800" cy="51593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173EA183-162B-4E01-9813-B506F2DBAE7C}" type="datetimeFigureOut">
              <a:rPr lang="en-IN" smtClean="0"/>
              <a:t>27-07-2026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057900" y="1285875"/>
            <a:ext cx="6172200" cy="3471863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1828800" y="4951413"/>
            <a:ext cx="14630400" cy="4049712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9771063"/>
            <a:ext cx="7924800" cy="51593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10358438" y="9771063"/>
            <a:ext cx="7924800" cy="51593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6DAA846-0852-41D6-8933-2D5699F3231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74941060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6DAA846-0852-41D6-8933-2D5699F3231D}" type="slidenum">
              <a:rPr lang="en-IN" smtClean="0"/>
              <a:t>2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708791235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6DAA846-0852-41D6-8933-2D5699F3231D}" type="slidenum">
              <a:rPr lang="en-IN" smtClean="0"/>
              <a:t>3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01563668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1371600" y="3188970"/>
            <a:ext cx="15544800" cy="216027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6000" b="0" i="0">
                <a:solidFill>
                  <a:schemeClr val="tx1"/>
                </a:solidFill>
                <a:latin typeface="Arial Black"/>
                <a:cs typeface="Arial Black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2743200" y="5760720"/>
            <a:ext cx="12801600" cy="257175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4400" b="0" i="0">
                <a:solidFill>
                  <a:schemeClr val="tx1"/>
                </a:solidFill>
                <a:latin typeface="Times New Roman"/>
                <a:cs typeface="Times New Roman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7/27/2026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6000" b="0" i="0">
                <a:solidFill>
                  <a:schemeClr val="tx1"/>
                </a:solidFill>
                <a:latin typeface="Arial Black"/>
                <a:cs typeface="Arial Black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 sz="4400" b="0" i="0">
                <a:solidFill>
                  <a:schemeClr val="tx1"/>
                </a:solidFill>
                <a:latin typeface="Times New Roman"/>
                <a:cs typeface="Times New Roman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7/27/2026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6000" b="0" i="0">
                <a:solidFill>
                  <a:schemeClr val="tx1"/>
                </a:solidFill>
                <a:latin typeface="Arial Black"/>
                <a:cs typeface="Arial Black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914400" y="2366010"/>
            <a:ext cx="7955280" cy="678942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9418320" y="2366010"/>
            <a:ext cx="7955280" cy="678942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7/27/2026</a:t>
            </a:fld>
            <a:endParaRPr lang="en-US"/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6000" b="0" i="0">
                <a:solidFill>
                  <a:schemeClr val="tx1"/>
                </a:solidFill>
                <a:latin typeface="Arial Black"/>
                <a:cs typeface="Arial Black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7/27/2026</a:t>
            </a:fld>
            <a:endParaRPr lang="en-US"/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Blank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bg object 16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7/27/2026</a:t>
            </a:fld>
            <a:endParaRPr lang="en-US"/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image" Target="../media/image2.jpg"/><Relationship Id="rId3" Type="http://schemas.openxmlformats.org/officeDocument/2006/relationships/slideLayout" Target="../slideLayouts/slideLayout3.xml"/><Relationship Id="rId7" Type="http://schemas.openxmlformats.org/officeDocument/2006/relationships/image" Target="../media/image1.jpg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9" Type="http://schemas.openxmlformats.org/officeDocument/2006/relationships/image" Target="../media/image3.jp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bg object 16"/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  <p:pic>
        <p:nvPicPr>
          <p:cNvPr id="17" name="bg object 17"/>
          <p:cNvPicPr/>
          <p:nvPr/>
        </p:nvPicPr>
        <p:blipFill>
          <a:blip r:embed="rId8" cstate="print"/>
          <a:stretch>
            <a:fillRect/>
          </a:stretch>
        </p:blipFill>
        <p:spPr>
          <a:xfrm>
            <a:off x="247650" y="304800"/>
            <a:ext cx="1562100" cy="1781175"/>
          </a:xfrm>
          <a:prstGeom prst="rect">
            <a:avLst/>
          </a:prstGeom>
        </p:spPr>
      </p:pic>
      <p:pic>
        <p:nvPicPr>
          <p:cNvPr id="18" name="bg object 18"/>
          <p:cNvPicPr/>
          <p:nvPr/>
        </p:nvPicPr>
        <p:blipFill>
          <a:blip r:embed="rId9" cstate="print"/>
          <a:stretch>
            <a:fillRect/>
          </a:stretch>
        </p:blipFill>
        <p:spPr>
          <a:xfrm>
            <a:off x="15887700" y="390525"/>
            <a:ext cx="2124075" cy="1619250"/>
          </a:xfrm>
          <a:prstGeom prst="rect">
            <a:avLst/>
          </a:prstGeom>
        </p:spPr>
      </p:pic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3187700" y="633983"/>
            <a:ext cx="11912600" cy="138747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6000" b="0" i="0">
                <a:solidFill>
                  <a:schemeClr val="tx1"/>
                </a:solidFill>
                <a:latin typeface="Arial Black"/>
                <a:cs typeface="Arial Black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3310635" y="3656965"/>
            <a:ext cx="11666728" cy="46024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4400" b="0" i="0">
                <a:solidFill>
                  <a:schemeClr val="tx1"/>
                </a:solidFill>
                <a:latin typeface="Times New Roman"/>
                <a:cs typeface="Times New Roman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6217920" y="9566910"/>
            <a:ext cx="5852160" cy="51435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914400" y="9566910"/>
            <a:ext cx="4206240" cy="51435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7/27/2026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13167361" y="9566910"/>
            <a:ext cx="4206240" cy="51435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.png"/><Relationship Id="rId5" Type="http://schemas.openxmlformats.org/officeDocument/2006/relationships/image" Target="../media/image3.jpg"/><Relationship Id="rId4" Type="http://schemas.openxmlformats.org/officeDocument/2006/relationships/image" Target="../media/image2.jp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3.jpg"/><Relationship Id="rId4" Type="http://schemas.openxmlformats.org/officeDocument/2006/relationships/image" Target="../media/image2.jp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customXml" Target="../ink/ink1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6.jpe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/>
          <p:cNvSpPr txBox="1">
            <a:spLocks noGrp="1"/>
          </p:cNvSpPr>
          <p:nvPr>
            <p:ph type="body" idx="1"/>
          </p:nvPr>
        </p:nvSpPr>
        <p:spPr>
          <a:xfrm>
            <a:off x="5257800" y="4686300"/>
            <a:ext cx="9601200" cy="4480907"/>
          </a:xfrm>
          <a:prstGeom prst="rect">
            <a:avLst/>
          </a:prstGeom>
        </p:spPr>
        <p:txBody>
          <a:bodyPr vert="horz" wrap="square" lIns="0" tIns="256540" rIns="0" bIns="0" rtlCol="0">
            <a:spAutoFit/>
          </a:bodyPr>
          <a:lstStyle/>
          <a:p>
            <a:pPr marL="31115">
              <a:lnSpc>
                <a:spcPct val="100000"/>
              </a:lnSpc>
              <a:spcBef>
                <a:spcPts val="2020"/>
              </a:spcBef>
            </a:pPr>
            <a:r>
              <a:rPr sz="4000" b="1" dirty="0">
                <a:latin typeface="Times New Roman"/>
                <a:cs typeface="Times New Roman"/>
              </a:rPr>
              <a:t>Name</a:t>
            </a:r>
            <a:r>
              <a:rPr lang="en-US" sz="4000" b="1" dirty="0"/>
              <a:t>s</a:t>
            </a:r>
            <a:r>
              <a:rPr sz="4000" b="1" dirty="0">
                <a:latin typeface="Times New Roman"/>
                <a:cs typeface="Times New Roman"/>
              </a:rPr>
              <a:t>:</a:t>
            </a:r>
            <a:r>
              <a:rPr lang="en-IN" sz="4000" b="1" dirty="0">
                <a:latin typeface="Times New Roman"/>
                <a:cs typeface="Times New Roman"/>
              </a:rPr>
              <a:t> </a:t>
            </a:r>
            <a:r>
              <a:rPr sz="4000" spc="75" dirty="0"/>
              <a:t>Durga</a:t>
            </a:r>
            <a:r>
              <a:rPr sz="4000" spc="-275" dirty="0"/>
              <a:t> </a:t>
            </a:r>
            <a:r>
              <a:rPr sz="4000" dirty="0"/>
              <a:t>Sree</a:t>
            </a:r>
            <a:r>
              <a:rPr sz="4000" spc="-235" dirty="0"/>
              <a:t> </a:t>
            </a:r>
            <a:r>
              <a:rPr sz="4000" spc="-50" dirty="0"/>
              <a:t>R</a:t>
            </a:r>
          </a:p>
          <a:p>
            <a:pPr marL="31115">
              <a:lnSpc>
                <a:spcPct val="150000"/>
              </a:lnSpc>
              <a:spcBef>
                <a:spcPts val="1930"/>
              </a:spcBef>
            </a:pPr>
            <a:r>
              <a:rPr sz="4000" b="1" spc="-30" dirty="0">
                <a:latin typeface="Times New Roman"/>
                <a:cs typeface="Times New Roman"/>
              </a:rPr>
              <a:t>Reg</a:t>
            </a:r>
            <a:r>
              <a:rPr lang="en-IN" sz="4000" b="1" spc="-30" dirty="0" err="1">
                <a:latin typeface="Times New Roman"/>
                <a:cs typeface="Times New Roman"/>
              </a:rPr>
              <a:t>ister</a:t>
            </a:r>
            <a:r>
              <a:rPr sz="4000" b="1" spc="-330" dirty="0">
                <a:latin typeface="Times New Roman"/>
                <a:cs typeface="Times New Roman"/>
              </a:rPr>
              <a:t> </a:t>
            </a:r>
            <a:r>
              <a:rPr sz="4000" b="1" spc="-110" dirty="0">
                <a:latin typeface="Times New Roman"/>
                <a:cs typeface="Times New Roman"/>
              </a:rPr>
              <a:t>N</a:t>
            </a:r>
            <a:r>
              <a:rPr lang="en-IN" sz="4000" b="1" spc="-110" dirty="0">
                <a:latin typeface="Times New Roman"/>
                <a:cs typeface="Times New Roman"/>
              </a:rPr>
              <a:t>umber</a:t>
            </a:r>
            <a:r>
              <a:rPr sz="4000" b="1" spc="-110" dirty="0">
                <a:latin typeface="Times New Roman"/>
                <a:cs typeface="Times New Roman"/>
              </a:rPr>
              <a:t>:</a:t>
            </a:r>
            <a:r>
              <a:rPr lang="en-IN" sz="4000" b="1" spc="-110" dirty="0">
                <a:latin typeface="Times New Roman"/>
                <a:cs typeface="Times New Roman"/>
              </a:rPr>
              <a:t> </a:t>
            </a:r>
            <a:r>
              <a:rPr lang="en-IN" sz="4000" spc="-110" dirty="0">
                <a:latin typeface="Times New Roman"/>
                <a:cs typeface="Times New Roman"/>
              </a:rPr>
              <a:t>192411189</a:t>
            </a:r>
            <a:endParaRPr sz="4000" spc="-420" dirty="0"/>
          </a:p>
          <a:p>
            <a:pPr marL="31115" marR="5080">
              <a:lnSpc>
                <a:spcPct val="136500"/>
              </a:lnSpc>
            </a:pPr>
            <a:r>
              <a:rPr sz="4000" b="1" spc="-45" dirty="0">
                <a:latin typeface="Times New Roman"/>
                <a:cs typeface="Times New Roman"/>
              </a:rPr>
              <a:t>Course</a:t>
            </a:r>
            <a:r>
              <a:rPr sz="4000" b="1" spc="-229" dirty="0">
                <a:latin typeface="Times New Roman"/>
                <a:cs typeface="Times New Roman"/>
              </a:rPr>
              <a:t> </a:t>
            </a:r>
            <a:r>
              <a:rPr sz="4000" b="1" spc="-55" dirty="0">
                <a:latin typeface="Times New Roman"/>
                <a:cs typeface="Times New Roman"/>
              </a:rPr>
              <a:t>Code</a:t>
            </a:r>
            <a:r>
              <a:rPr sz="4000" b="1" spc="-135" dirty="0">
                <a:latin typeface="Times New Roman"/>
                <a:cs typeface="Times New Roman"/>
              </a:rPr>
              <a:t> </a:t>
            </a:r>
            <a:r>
              <a:rPr sz="4000" b="1" spc="-515" dirty="0">
                <a:latin typeface="Times New Roman"/>
                <a:cs typeface="Times New Roman"/>
              </a:rPr>
              <a:t>&amp;</a:t>
            </a:r>
            <a:r>
              <a:rPr sz="4000" b="1" spc="10" dirty="0">
                <a:latin typeface="Times New Roman"/>
                <a:cs typeface="Times New Roman"/>
              </a:rPr>
              <a:t> </a:t>
            </a:r>
            <a:r>
              <a:rPr sz="4000" b="1" spc="-40" dirty="0">
                <a:latin typeface="Times New Roman"/>
                <a:cs typeface="Times New Roman"/>
              </a:rPr>
              <a:t>Name:</a:t>
            </a:r>
            <a:r>
              <a:rPr lang="en-IN" sz="4000" b="1" spc="-40" dirty="0">
                <a:latin typeface="Times New Roman"/>
                <a:cs typeface="Times New Roman"/>
              </a:rPr>
              <a:t> </a:t>
            </a:r>
            <a:r>
              <a:rPr lang="en-IN" sz="4000" spc="-40" dirty="0">
                <a:latin typeface="Times New Roman"/>
                <a:cs typeface="Times New Roman"/>
              </a:rPr>
              <a:t>CSA1104 – Object Oriented Analysis And Design</a:t>
            </a:r>
            <a:endParaRPr lang="en-IN" sz="4000" spc="-10" dirty="0"/>
          </a:p>
          <a:p>
            <a:pPr marL="31115" marR="5080">
              <a:lnSpc>
                <a:spcPct val="136500"/>
              </a:lnSpc>
            </a:pPr>
            <a:r>
              <a:rPr sz="4000" b="1" spc="-165" dirty="0">
                <a:latin typeface="Times New Roman"/>
                <a:cs typeface="Times New Roman"/>
              </a:rPr>
              <a:t>Facult</a:t>
            </a:r>
            <a:r>
              <a:rPr lang="en-US" sz="4000" b="1" spc="-165" dirty="0"/>
              <a:t>y</a:t>
            </a:r>
            <a:r>
              <a:rPr sz="4000" b="1" spc="-165" dirty="0">
                <a:latin typeface="Times New Roman"/>
                <a:cs typeface="Times New Roman"/>
              </a:rPr>
              <a:t>:</a:t>
            </a:r>
            <a:r>
              <a:rPr lang="en-IN" sz="4000" b="1" spc="-165" dirty="0">
                <a:latin typeface="Times New Roman"/>
                <a:cs typeface="Times New Roman"/>
              </a:rPr>
              <a:t> </a:t>
            </a:r>
            <a:r>
              <a:rPr lang="en-IN" sz="4000" spc="-165" dirty="0" err="1"/>
              <a:t>Dr.A.Gayathri</a:t>
            </a:r>
            <a:endParaRPr sz="4000" spc="-50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DE51E9C9-F473-2EFE-EEB2-CE6DE1E09CB5}"/>
              </a:ext>
            </a:extLst>
          </p:cNvPr>
          <p:cNvSpPr txBox="1"/>
          <p:nvPr/>
        </p:nvSpPr>
        <p:spPr>
          <a:xfrm>
            <a:off x="2535382" y="3086100"/>
            <a:ext cx="13217236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4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Importance of SDLC in E-Commerce Development</a:t>
            </a:r>
            <a:endParaRPr lang="en-US" sz="4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B3CED0A0-68B4-44E2-1EA4-DF53CDD7A88B}"/>
              </a:ext>
            </a:extLst>
          </p:cNvPr>
          <p:cNvSpPr txBox="1"/>
          <p:nvPr/>
        </p:nvSpPr>
        <p:spPr>
          <a:xfrm>
            <a:off x="2535382" y="952500"/>
            <a:ext cx="13217236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5400" b="1">
                <a:latin typeface="Times New Roman" panose="02020603050405020304" pitchFamily="18" charset="0"/>
                <a:cs typeface="Times New Roman" panose="02020603050405020304" pitchFamily="18" charset="0"/>
              </a:rPr>
              <a:t>CO1-AT2- </a:t>
            </a:r>
            <a:r>
              <a:rPr lang="en-IN" sz="5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TECHNICAL PRESENTATION</a:t>
            </a:r>
            <a:endParaRPr lang="en-US" sz="54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>
          <a:extLst>
            <a:ext uri="{FF2B5EF4-FFF2-40B4-BE49-F238E27FC236}">
              <a16:creationId xmlns:a16="http://schemas.microsoft.com/office/drawing/2014/main" id="{E4B07A26-3896-3D49-5729-E25696EA076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>
            <a:extLst>
              <a:ext uri="{FF2B5EF4-FFF2-40B4-BE49-F238E27FC236}">
                <a16:creationId xmlns:a16="http://schemas.microsoft.com/office/drawing/2014/main" id="{1DF54D33-7713-416F-BBA0-C145CA3C10DC}"/>
              </a:ext>
            </a:extLst>
          </p:cNvPr>
          <p:cNvGrpSpPr/>
          <p:nvPr/>
        </p:nvGrpSpPr>
        <p:grpSpPr>
          <a:xfrm>
            <a:off x="0" y="0"/>
            <a:ext cx="18288000" cy="10325100"/>
            <a:chOff x="0" y="38096"/>
            <a:chExt cx="18288000" cy="10248900"/>
          </a:xfrm>
        </p:grpSpPr>
        <p:pic>
          <p:nvPicPr>
            <p:cNvPr id="3" name="object 3">
              <a:extLst>
                <a:ext uri="{FF2B5EF4-FFF2-40B4-BE49-F238E27FC236}">
                  <a16:creationId xmlns:a16="http://schemas.microsoft.com/office/drawing/2014/main" id="{F21B38DD-1735-DDF3-6F6A-994CF502DE80}"/>
                </a:ext>
              </a:extLst>
            </p:cNvPr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0" y="38096"/>
              <a:ext cx="18288000" cy="10248900"/>
            </a:xfrm>
            <a:prstGeom prst="rect">
              <a:avLst/>
            </a:prstGeom>
          </p:spPr>
        </p:pic>
        <p:pic>
          <p:nvPicPr>
            <p:cNvPr id="4" name="object 4">
              <a:extLst>
                <a:ext uri="{FF2B5EF4-FFF2-40B4-BE49-F238E27FC236}">
                  <a16:creationId xmlns:a16="http://schemas.microsoft.com/office/drawing/2014/main" id="{93401201-8FE3-531A-275D-1C55CF14D472}"/>
                </a:ext>
              </a:extLst>
            </p:cNvPr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247650" y="304800"/>
              <a:ext cx="1562100" cy="1781175"/>
            </a:xfrm>
            <a:prstGeom prst="rect">
              <a:avLst/>
            </a:prstGeom>
          </p:spPr>
        </p:pic>
        <p:pic>
          <p:nvPicPr>
            <p:cNvPr id="5" name="object 5">
              <a:extLst>
                <a:ext uri="{FF2B5EF4-FFF2-40B4-BE49-F238E27FC236}">
                  <a16:creationId xmlns:a16="http://schemas.microsoft.com/office/drawing/2014/main" id="{DC5D978A-389B-2E55-6266-A4F63434F16C}"/>
                </a:ext>
              </a:extLst>
            </p:cNvPr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15887700" y="390525"/>
              <a:ext cx="2124075" cy="1619250"/>
            </a:xfrm>
            <a:prstGeom prst="rect">
              <a:avLst/>
            </a:prstGeom>
          </p:spPr>
        </p:pic>
      </p:grpSp>
      <p:sp>
        <p:nvSpPr>
          <p:cNvPr id="6" name="object 6">
            <a:extLst>
              <a:ext uri="{FF2B5EF4-FFF2-40B4-BE49-F238E27FC236}">
                <a16:creationId xmlns:a16="http://schemas.microsoft.com/office/drawing/2014/main" id="{ED1F172C-BB55-90AF-AD78-B986473FD721}"/>
              </a:ext>
            </a:extLst>
          </p:cNvPr>
          <p:cNvSpPr txBox="1"/>
          <p:nvPr/>
        </p:nvSpPr>
        <p:spPr>
          <a:xfrm>
            <a:off x="1524000" y="3277759"/>
            <a:ext cx="10497577" cy="5215338"/>
          </a:xfrm>
          <a:prstGeom prst="rect">
            <a:avLst/>
          </a:prstGeom>
        </p:spPr>
        <p:txBody>
          <a:bodyPr vert="horz" wrap="square" lIns="0" tIns="134620" rIns="0" bIns="0" rtlCol="0">
            <a:spAutoFit/>
          </a:bodyPr>
          <a:lstStyle/>
          <a:p>
            <a:pPr marL="457200" indent="-4572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3200" dirty="0"/>
              <a:t>SDLC is a systematic process for developing software.</a:t>
            </a:r>
          </a:p>
          <a:p>
            <a:pPr marL="457200" indent="-4572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3200" dirty="0"/>
              <a:t>E-commerce systems manage products, payments, and orders.</a:t>
            </a:r>
          </a:p>
          <a:p>
            <a:pPr marL="457200" indent="-4572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3200" dirty="0"/>
              <a:t>SDLC helps organise the development process effectively.</a:t>
            </a:r>
          </a:p>
          <a:p>
            <a:pPr marL="457200" indent="-4572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3200" dirty="0"/>
              <a:t>It ensures software quality, reliability, and security.</a:t>
            </a:r>
          </a:p>
          <a:p>
            <a:pPr marL="457200" indent="-4572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3200" dirty="0"/>
              <a:t>It improves customer satisfaction and user experience.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63B0A61F-2645-178A-1B96-996C22746686}"/>
              </a:ext>
            </a:extLst>
          </p:cNvPr>
          <p:cNvSpPr txBox="1"/>
          <p:nvPr/>
        </p:nvSpPr>
        <p:spPr>
          <a:xfrm>
            <a:off x="4876800" y="625743"/>
            <a:ext cx="9791700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n-IN" sz="5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Importance of SDLC in </a:t>
            </a:r>
          </a:p>
          <a:p>
            <a:pPr algn="l"/>
            <a:r>
              <a:rPr lang="en-IN" sz="5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E-Commerce Development</a:t>
            </a:r>
            <a:endParaRPr lang="en-IN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7" name="Picture 6" descr="software development life cycle">
            <a:extLst>
              <a:ext uri="{FF2B5EF4-FFF2-40B4-BE49-F238E27FC236}">
                <a16:creationId xmlns:a16="http://schemas.microsoft.com/office/drawing/2014/main" id="{C0DFB6A0-5E3C-D4A5-C86A-5185EA7BF465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2486385" y="3452812"/>
            <a:ext cx="5272088" cy="5272088"/>
          </a:xfrm>
          <a:prstGeom prst="rect">
            <a:avLst/>
          </a:prstGeom>
          <a:solidFill>
            <a:srgbClr val="FFFFFF">
              <a:shade val="85000"/>
            </a:srgbClr>
          </a:solidFill>
          <a:ln w="190500" cap="rnd">
            <a:solidFill>
              <a:srgbClr val="FFFFFF"/>
            </a:solidFill>
          </a:ln>
          <a:effectLst>
            <a:outerShdw blurRad="50000" algn="tl" rotWithShape="0">
              <a:srgbClr val="000000">
                <a:alpha val="41000"/>
              </a:srgbClr>
            </a:outerShdw>
          </a:effectLst>
          <a:scene3d>
            <a:camera prst="orthographicFront"/>
            <a:lightRig rig="twoPt" dir="t">
              <a:rot lat="0" lon="0" rev="7800000"/>
            </a:lightRig>
          </a:scene3d>
          <a:sp3d contourW="6350">
            <a:bevelT w="50800" h="16510"/>
            <a:contourClr>
              <a:srgbClr val="C0C0C0"/>
            </a:contourClr>
          </a:sp3d>
        </p:spPr>
      </p:pic>
    </p:spTree>
    <p:extLst>
      <p:ext uri="{BB962C8B-B14F-4D97-AF65-F5344CB8AC3E}">
        <p14:creationId xmlns:p14="http://schemas.microsoft.com/office/powerpoint/2010/main" val="142950265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>
          <a:extLst>
            <a:ext uri="{FF2B5EF4-FFF2-40B4-BE49-F238E27FC236}">
              <a16:creationId xmlns:a16="http://schemas.microsoft.com/office/drawing/2014/main" id="{10F83F08-E5B6-AD05-94E5-23B29B315D1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>
            <a:extLst>
              <a:ext uri="{FF2B5EF4-FFF2-40B4-BE49-F238E27FC236}">
                <a16:creationId xmlns:a16="http://schemas.microsoft.com/office/drawing/2014/main" id="{20CBA51A-6564-CDBC-A64F-D9CEAD386646}"/>
              </a:ext>
            </a:extLst>
          </p:cNvPr>
          <p:cNvGrpSpPr/>
          <p:nvPr/>
        </p:nvGrpSpPr>
        <p:grpSpPr>
          <a:xfrm>
            <a:off x="0" y="0"/>
            <a:ext cx="18288000" cy="10287000"/>
            <a:chOff x="0" y="38096"/>
            <a:chExt cx="18288000" cy="10248900"/>
          </a:xfrm>
        </p:grpSpPr>
        <p:pic>
          <p:nvPicPr>
            <p:cNvPr id="3" name="object 3">
              <a:extLst>
                <a:ext uri="{FF2B5EF4-FFF2-40B4-BE49-F238E27FC236}">
                  <a16:creationId xmlns:a16="http://schemas.microsoft.com/office/drawing/2014/main" id="{89FF3C31-9BB1-D981-9739-03D41E6F0A43}"/>
                </a:ext>
              </a:extLst>
            </p:cNvPr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0" y="38096"/>
              <a:ext cx="18288000" cy="10248900"/>
            </a:xfrm>
            <a:prstGeom prst="rect">
              <a:avLst/>
            </a:prstGeom>
          </p:spPr>
        </p:pic>
        <p:pic>
          <p:nvPicPr>
            <p:cNvPr id="4" name="object 4">
              <a:extLst>
                <a:ext uri="{FF2B5EF4-FFF2-40B4-BE49-F238E27FC236}">
                  <a16:creationId xmlns:a16="http://schemas.microsoft.com/office/drawing/2014/main" id="{71597C94-62AF-ECEF-5EFD-B230B4123180}"/>
                </a:ext>
              </a:extLst>
            </p:cNvPr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247650" y="304800"/>
              <a:ext cx="1562100" cy="1781175"/>
            </a:xfrm>
            <a:prstGeom prst="rect">
              <a:avLst/>
            </a:prstGeom>
          </p:spPr>
        </p:pic>
        <p:pic>
          <p:nvPicPr>
            <p:cNvPr id="5" name="object 5">
              <a:extLst>
                <a:ext uri="{FF2B5EF4-FFF2-40B4-BE49-F238E27FC236}">
                  <a16:creationId xmlns:a16="http://schemas.microsoft.com/office/drawing/2014/main" id="{07973087-C0BF-CDF6-EDB8-4D76F7D3C9C7}"/>
                </a:ext>
              </a:extLst>
            </p:cNvPr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15887700" y="390525"/>
              <a:ext cx="2124075" cy="1619250"/>
            </a:xfrm>
            <a:prstGeom prst="rect">
              <a:avLst/>
            </a:prstGeom>
          </p:spPr>
        </p:pic>
      </p:grpSp>
      <p:sp>
        <p:nvSpPr>
          <p:cNvPr id="11" name="TextBox 10">
            <a:extLst>
              <a:ext uri="{FF2B5EF4-FFF2-40B4-BE49-F238E27FC236}">
                <a16:creationId xmlns:a16="http://schemas.microsoft.com/office/drawing/2014/main" id="{D701770B-8B49-F7B0-9E61-EC03B0293A71}"/>
              </a:ext>
            </a:extLst>
          </p:cNvPr>
          <p:cNvSpPr txBox="1"/>
          <p:nvPr/>
        </p:nvSpPr>
        <p:spPr>
          <a:xfrm>
            <a:off x="3567113" y="852785"/>
            <a:ext cx="12320587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5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Planning and Requirement Analysis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32EDF2F1-EF28-F340-4BAD-6C608A2207BD}"/>
              </a:ext>
            </a:extLst>
          </p:cNvPr>
          <p:cNvSpPr txBox="1"/>
          <p:nvPr/>
        </p:nvSpPr>
        <p:spPr>
          <a:xfrm>
            <a:off x="545555" y="2628900"/>
            <a:ext cx="10046245" cy="66518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457200" indent="-4572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Planning</a:t>
            </a:r>
            <a:r>
              <a:rPr lang="en-IN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 identifies project goals, resources, cost, and schedule.</a:t>
            </a:r>
          </a:p>
          <a:p>
            <a:pPr marL="457200" indent="-4572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Requirement Analysis</a:t>
            </a:r>
            <a:r>
              <a:rPr lang="en-IN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 identifies customer and business needs.</a:t>
            </a:r>
          </a:p>
          <a:p>
            <a:pPr marL="457200" indent="-4572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Requirements include products, cart, payment, and order tracking.</a:t>
            </a:r>
          </a:p>
          <a:p>
            <a:pPr marL="457200" indent="-4572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Proper planning reduces development risks and errors.</a:t>
            </a:r>
          </a:p>
          <a:p>
            <a:pPr marL="457200" indent="-4572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Clear requirements ensure the right features are developed.</a:t>
            </a:r>
          </a:p>
        </p:txBody>
      </p:sp>
    </p:spTree>
    <p:extLst>
      <p:ext uri="{BB962C8B-B14F-4D97-AF65-F5344CB8AC3E}">
        <p14:creationId xmlns:p14="http://schemas.microsoft.com/office/powerpoint/2010/main" val="110264415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6">
            <a:extLst>
              <a:ext uri="{FF2B5EF4-FFF2-40B4-BE49-F238E27FC236}">
                <a16:creationId xmlns:a16="http://schemas.microsoft.com/office/drawing/2014/main" id="{A2BAE5AD-3447-2FD7-EC56-5B28B409540C}"/>
              </a:ext>
            </a:extLst>
          </p:cNvPr>
          <p:cNvSpPr txBox="1"/>
          <p:nvPr/>
        </p:nvSpPr>
        <p:spPr>
          <a:xfrm>
            <a:off x="4114800" y="876300"/>
            <a:ext cx="12877800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5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System Design and Development</a:t>
            </a:r>
          </a:p>
        </p:txBody>
      </p:sp>
      <p:sp>
        <p:nvSpPr>
          <p:cNvPr id="10" name="Rectangle 1">
            <a:extLst>
              <a:ext uri="{FF2B5EF4-FFF2-40B4-BE49-F238E27FC236}">
                <a16:creationId xmlns:a16="http://schemas.microsoft.com/office/drawing/2014/main" id="{AD8050BA-ADEA-D845-F809-B4BA061A86BA}"/>
              </a:ext>
            </a:extLst>
          </p:cNvPr>
          <p:cNvSpPr>
            <a:spLocks noChangeArrowheads="1"/>
          </p:cNvSpPr>
          <p:nvPr/>
        </p:nvSpPr>
        <p:spPr bwMode="auto">
          <a:xfrm>
            <a:off x="533400" y="2911415"/>
            <a:ext cx="9980040" cy="591315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457200" indent="-4572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Design</a:t>
            </a:r>
            <a:r>
              <a:rPr lang="en-IN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 defines the system architecture, database, and user interface.</a:t>
            </a:r>
          </a:p>
          <a:p>
            <a:pPr marL="457200" indent="-4572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 modular design makes the system easy to understand.</a:t>
            </a:r>
          </a:p>
          <a:p>
            <a:pPr marL="457200" indent="-4572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Development</a:t>
            </a:r>
            <a:r>
              <a:rPr lang="en-IN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 converts the design into working software.</a:t>
            </a:r>
          </a:p>
          <a:p>
            <a:pPr marL="457200" indent="-4572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Developers implement products, payments, and order management.</a:t>
            </a:r>
          </a:p>
          <a:p>
            <a:pPr marL="457200" indent="-4572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Good design and coding improve maintainability and scalability.</a:t>
            </a:r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2">
            <p14:nvContentPartPr>
              <p14:cNvPr id="2" name="Ink 1">
                <a:extLst>
                  <a:ext uri="{FF2B5EF4-FFF2-40B4-BE49-F238E27FC236}">
                    <a16:creationId xmlns:a16="http://schemas.microsoft.com/office/drawing/2014/main" id="{EF5BA5A3-8801-7067-3D15-808C27668708}"/>
                  </a:ext>
                </a:extLst>
              </p14:cNvPr>
              <p14:cNvContentPartPr/>
              <p14:nvPr/>
            </p14:nvContentPartPr>
            <p14:xfrm>
              <a:off x="15268956" y="5711494"/>
              <a:ext cx="360" cy="360"/>
            </p14:xfrm>
          </p:contentPart>
        </mc:Choice>
        <mc:Fallback xmlns="">
          <p:pic>
            <p:nvPicPr>
              <p:cNvPr id="2" name="Ink 1">
                <a:extLst>
                  <a:ext uri="{FF2B5EF4-FFF2-40B4-BE49-F238E27FC236}">
                    <a16:creationId xmlns:a16="http://schemas.microsoft.com/office/drawing/2014/main" id="{EF5BA5A3-8801-7067-3D15-808C27668708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15205956" y="5648854"/>
                <a:ext cx="126000" cy="126000"/>
              </a:xfrm>
              <a:prstGeom prst="rect">
                <a:avLst/>
              </a:prstGeom>
            </p:spPr>
          </p:pic>
        </mc:Fallback>
      </mc:AlternateContent>
      <p:pic>
        <p:nvPicPr>
          <p:cNvPr id="3" name="Picture 2" descr="How to Design an E-commerce System">
            <a:extLst>
              <a:ext uri="{FF2B5EF4-FFF2-40B4-BE49-F238E27FC236}">
                <a16:creationId xmlns:a16="http://schemas.microsoft.com/office/drawing/2014/main" id="{ACD3A3A1-542B-D508-F74F-85DDABC4B174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l="4909" t="11890" r="3204" b="3568"/>
          <a:stretch>
            <a:fillRect/>
          </a:stretch>
        </p:blipFill>
        <p:spPr>
          <a:xfrm>
            <a:off x="10972800" y="3467100"/>
            <a:ext cx="5789040" cy="4038600"/>
          </a:xfrm>
          <a:prstGeom prst="rect">
            <a:avLst/>
          </a:prstGeom>
          <a:solidFill>
            <a:srgbClr val="FFFFFF">
              <a:shade val="85000"/>
            </a:srgbClr>
          </a:solidFill>
          <a:ln w="190500" cap="rnd">
            <a:solidFill>
              <a:srgbClr val="FFFFFF"/>
            </a:solidFill>
          </a:ln>
          <a:effectLst>
            <a:outerShdw blurRad="50000" algn="tl" rotWithShape="0">
              <a:srgbClr val="000000">
                <a:alpha val="41000"/>
              </a:srgbClr>
            </a:outerShdw>
          </a:effectLst>
          <a:scene3d>
            <a:camera prst="orthographicFront"/>
            <a:lightRig rig="twoPt" dir="t">
              <a:rot lat="0" lon="0" rev="7800000"/>
            </a:lightRig>
          </a:scene3d>
          <a:sp3d contourW="6350">
            <a:bevelT w="50800" h="16510"/>
            <a:contourClr>
              <a:srgbClr val="C0C0C0"/>
            </a:contourClr>
          </a:sp3d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91525C0-7A14-A474-9D97-377292DBD43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7A59A600-B77B-9C4F-E3B6-CD9B4464EE8D}"/>
              </a:ext>
            </a:extLst>
          </p:cNvPr>
          <p:cNvSpPr txBox="1"/>
          <p:nvPr/>
        </p:nvSpPr>
        <p:spPr>
          <a:xfrm>
            <a:off x="5181600" y="845946"/>
            <a:ext cx="13944600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5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Testing and Deployment</a:t>
            </a:r>
          </a:p>
        </p:txBody>
      </p:sp>
      <p:sp>
        <p:nvSpPr>
          <p:cNvPr id="9" name="Rectangle 2">
            <a:extLst>
              <a:ext uri="{FF2B5EF4-FFF2-40B4-BE49-F238E27FC236}">
                <a16:creationId xmlns:a16="http://schemas.microsoft.com/office/drawing/2014/main" id="{6982025C-7449-F979-582D-5BB3422947A0}"/>
              </a:ext>
            </a:extLst>
          </p:cNvPr>
          <p:cNvSpPr>
            <a:spLocks noChangeArrowheads="1"/>
          </p:cNvSpPr>
          <p:nvPr/>
        </p:nvSpPr>
        <p:spPr bwMode="auto">
          <a:xfrm>
            <a:off x="838200" y="3356947"/>
            <a:ext cx="10668000" cy="517449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457200" indent="-4572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Testing</a:t>
            </a:r>
            <a:r>
              <a:rPr lang="en-IN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 identifies bugs, errors, and security vulnerabilities.</a:t>
            </a:r>
          </a:p>
          <a:p>
            <a:pPr marL="457200" indent="-4572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Payment, login, ordering, and tracking features are tested.</a:t>
            </a:r>
          </a:p>
          <a:p>
            <a:pPr marL="457200" indent="-4572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Testing improves software quality and reliability.</a:t>
            </a:r>
          </a:p>
          <a:p>
            <a:pPr marL="457200" indent="-4572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Deployment</a:t>
            </a:r>
            <a:r>
              <a:rPr lang="en-IN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 makes the completed application available to users.</a:t>
            </a:r>
          </a:p>
          <a:p>
            <a:pPr marL="457200" indent="-4572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Proper deployment provides a smooth and secure shopping experience.</a:t>
            </a: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36DA5AD4-21D5-729D-3737-D1B57AC655B7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3509" r="6647"/>
          <a:stretch>
            <a:fillRect/>
          </a:stretch>
        </p:blipFill>
        <p:spPr>
          <a:xfrm>
            <a:off x="11506200" y="4076700"/>
            <a:ext cx="6085572" cy="3386753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339823542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87F8A6A-B4C1-1648-E603-039CBE303D0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83AC3232-A205-B8DE-486C-7B19DB62C095}"/>
              </a:ext>
            </a:extLst>
          </p:cNvPr>
          <p:cNvSpPr txBox="1"/>
          <p:nvPr/>
        </p:nvSpPr>
        <p:spPr>
          <a:xfrm>
            <a:off x="4610100" y="1016897"/>
            <a:ext cx="13944600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5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Maintenance and Conclusion</a:t>
            </a:r>
          </a:p>
        </p:txBody>
      </p:sp>
      <p:sp>
        <p:nvSpPr>
          <p:cNvPr id="9" name="Rectangle 2">
            <a:extLst>
              <a:ext uri="{FF2B5EF4-FFF2-40B4-BE49-F238E27FC236}">
                <a16:creationId xmlns:a16="http://schemas.microsoft.com/office/drawing/2014/main" id="{4A87B14A-6B2E-73FE-BFF4-551C644660C0}"/>
              </a:ext>
            </a:extLst>
          </p:cNvPr>
          <p:cNvSpPr>
            <a:spLocks noChangeArrowheads="1"/>
          </p:cNvSpPr>
          <p:nvPr/>
        </p:nvSpPr>
        <p:spPr bwMode="auto">
          <a:xfrm>
            <a:off x="3276600" y="3390900"/>
            <a:ext cx="11201400" cy="443583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457200" indent="-4572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Maintenance</a:t>
            </a:r>
            <a:r>
              <a:rPr lang="en-IN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 fixes bugs and improves existing features.</a:t>
            </a:r>
          </a:p>
          <a:p>
            <a:pPr marL="457200" indent="-4572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New features can be added based on customer requirements.</a:t>
            </a:r>
          </a:p>
          <a:p>
            <a:pPr marL="457200" indent="-4572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SDLC improves quality, reliability, security, and performance.</a:t>
            </a:r>
          </a:p>
          <a:p>
            <a:pPr marL="457200" indent="-4572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 reliable system increases customer trust and satisfaction.</a:t>
            </a:r>
          </a:p>
          <a:p>
            <a:pPr marL="457200" indent="-4572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Therefore, SDLC is essential for successful e-commerce development.</a:t>
            </a:r>
          </a:p>
        </p:txBody>
      </p:sp>
    </p:spTree>
    <p:extLst>
      <p:ext uri="{BB962C8B-B14F-4D97-AF65-F5344CB8AC3E}">
        <p14:creationId xmlns:p14="http://schemas.microsoft.com/office/powerpoint/2010/main" val="291245656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bject 3">
            <a:extLst>
              <a:ext uri="{FF2B5EF4-FFF2-40B4-BE49-F238E27FC236}">
                <a16:creationId xmlns:a16="http://schemas.microsoft.com/office/drawing/2014/main" id="{2DE192EF-C933-30A4-E18F-C6DCADAF8C1B}"/>
              </a:ext>
            </a:extLst>
          </p:cNvPr>
          <p:cNvSpPr txBox="1">
            <a:spLocks/>
          </p:cNvSpPr>
          <p:nvPr/>
        </p:nvSpPr>
        <p:spPr>
          <a:xfrm>
            <a:off x="5114247" y="4220024"/>
            <a:ext cx="13639656" cy="1427378"/>
          </a:xfrm>
          <a:prstGeom prst="rect">
            <a:avLst/>
          </a:prstGeom>
        </p:spPr>
        <p:txBody>
          <a:bodyPr vert="horz" wrap="square" lIns="0" tIns="0" rIns="0" bIns="0" rtlCol="0" anchor="ctr">
            <a:spAutoFit/>
          </a:bodyPr>
          <a:lstStyle>
            <a:lvl1pPr>
              <a:defRPr>
                <a:latin typeface="+mj-lt"/>
                <a:ea typeface="+mj-ea"/>
                <a:cs typeface="+mj-cs"/>
              </a:defRPr>
            </a:lvl1pPr>
          </a:lstStyle>
          <a:p>
            <a:pPr marL="3939540" marR="5080" indent="-3244215" algn="just">
              <a:lnSpc>
                <a:spcPct val="102400"/>
              </a:lnSpc>
            </a:pPr>
            <a:r>
              <a:rPr lang="en-IN" sz="9600" b="1" dirty="0">
                <a:latin typeface="Algerian" pitchFamily="82" charset="0"/>
                <a:ea typeface="Cambria Math" panose="02040503050406030204" pitchFamily="18" charset="0"/>
                <a:cs typeface="Arial Black" panose="020B0604020202020204" pitchFamily="34" charset="0"/>
              </a:rPr>
              <a:t>Thank you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Integral</Template>
  <TotalTime>296</TotalTime>
  <Words>304</Words>
  <Application>Microsoft Office PowerPoint</Application>
  <PresentationFormat>Custom</PresentationFormat>
  <Paragraphs>40</Paragraphs>
  <Slides>7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3" baseType="lpstr">
      <vt:lpstr>Algerian</vt:lpstr>
      <vt:lpstr>Arial</vt:lpstr>
      <vt:lpstr>Arial Black</vt:lpstr>
      <vt:lpstr>Calibri</vt:lpstr>
      <vt:lpstr>Times New Roman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2D CaTcH-THE-FaLLInG-ObjEcTs GamE WITH GRaVITY</dc:title>
  <dc:creator>mani vannan</dc:creator>
  <cp:lastModifiedBy>durga sree</cp:lastModifiedBy>
  <cp:revision>40</cp:revision>
  <dcterms:created xsi:type="dcterms:W3CDTF">2026-01-01T12:30:57Z</dcterms:created>
  <dcterms:modified xsi:type="dcterms:W3CDTF">2026-07-27T03:44:22Z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2026-01-01T00:00:00Z</vt:filetime>
  </property>
  <property fmtid="{D5CDD505-2E9C-101B-9397-08002B2CF9AE}" pid="3" name="LastSaved">
    <vt:filetime>2026-01-01T00:00:00Z</vt:filetime>
  </property>
</Properties>
</file>